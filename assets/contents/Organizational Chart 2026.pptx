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1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887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766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461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083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6581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1588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5220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10089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2701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2450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58192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9E5F8-8E0E-4AB5-95C2-FCD52224ACE0}" type="datetimeFigureOut">
              <a:rPr lang="en-PH" smtClean="0"/>
              <a:t>02/09/2026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38750-E3AE-432D-B2DE-6283F4FB576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30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2969683" y="37775"/>
            <a:ext cx="6190053" cy="727624"/>
            <a:chOff x="2969683" y="37775"/>
            <a:chExt cx="6190053" cy="727624"/>
          </a:xfrm>
        </p:grpSpPr>
        <p:sp>
          <p:nvSpPr>
            <p:cNvPr id="4" name="Rectangle 2"/>
            <p:cNvSpPr>
              <a:spLocks noChangeArrowheads="1"/>
            </p:cNvSpPr>
            <p:nvPr/>
          </p:nvSpPr>
          <p:spPr bwMode="auto">
            <a:xfrm>
              <a:off x="3745815" y="248668"/>
              <a:ext cx="4637789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pperplate Gothic Bold" panose="020E0705020206020404" pitchFamily="34" charset="0"/>
                </a:rPr>
                <a:t>OFFICE OF THE MUNICIPAL </a:t>
              </a: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MAYOR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pperplate Gothic Bold" panose="020E0705020206020404" pitchFamily="34" charset="0"/>
                </a:rPr>
                <a:t>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424069" y="889774"/>
            <a:ext cx="3281279" cy="4815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ENGR. ROBERT M. FABELLA 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27)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Municipal Mayor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6159228" y="1371332"/>
            <a:ext cx="698" cy="1969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598822" y="5473432"/>
            <a:ext cx="72596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159228" y="2026659"/>
            <a:ext cx="3092" cy="2345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5113754" y="1572704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VACANT (SG 17)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Executive</a:t>
            </a:r>
            <a:r>
              <a:rPr kumimoji="0" lang="en-US" sz="120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Assistant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605443" y="2924166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ERROL M. FALCUTILA (SG 11)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Officer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167364" y="3419564"/>
            <a:ext cx="12055" cy="20187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4595731" y="2261187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ANAMHER GRACE C. FERRERA (SG 15)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Officer IV (HRMO II)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2731816" y="3832899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MARIA SOCORRO F. FEDELICIO (SG 6)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VI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Rectangle 7"/>
          <p:cNvSpPr>
            <a:spLocks noChangeArrowheads="1"/>
          </p:cNvSpPr>
          <p:nvPr/>
        </p:nvSpPr>
        <p:spPr bwMode="auto">
          <a:xfrm>
            <a:off x="6606612" y="3838702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DAVEN A. FAJUTAGANA</a:t>
            </a: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(SG 6 )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VI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4150432" y="3588157"/>
            <a:ext cx="2049245" cy="150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6159229" y="3608965"/>
            <a:ext cx="2049245" cy="150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150432" y="3603166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8208474" y="3616469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6159228" y="4518092"/>
            <a:ext cx="2049245" cy="150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089132" y="4510588"/>
            <a:ext cx="2049245" cy="150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109985" y="4518092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223728" y="4510588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7"/>
          <p:cNvSpPr>
            <a:spLocks noChangeArrowheads="1"/>
          </p:cNvSpPr>
          <p:nvPr/>
        </p:nvSpPr>
        <p:spPr bwMode="auto">
          <a:xfrm>
            <a:off x="2731816" y="4747839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LANIE M. GALLANO (SG 4)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IV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6606612" y="4744752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JANREY F. FACTOR (SG 4)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IV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1318012" y="5707496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ROEL M. CAUNCA (SG 1)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Rectangle 7"/>
          <p:cNvSpPr>
            <a:spLocks noChangeArrowheads="1"/>
          </p:cNvSpPr>
          <p:nvPr/>
        </p:nvSpPr>
        <p:spPr bwMode="auto">
          <a:xfrm>
            <a:off x="3757381" y="5707496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EMILIO M. FIEDACAN (SG 1)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Rectangle 7"/>
          <p:cNvSpPr>
            <a:spLocks noChangeArrowheads="1"/>
          </p:cNvSpPr>
          <p:nvPr/>
        </p:nvSpPr>
        <p:spPr bwMode="auto">
          <a:xfrm>
            <a:off x="6320188" y="5718359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AGOSTO M. FALCUTILA(SG 1)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Rectangle 7"/>
          <p:cNvSpPr>
            <a:spLocks noChangeArrowheads="1"/>
          </p:cNvSpPr>
          <p:nvPr/>
        </p:nvSpPr>
        <p:spPr bwMode="auto">
          <a:xfrm>
            <a:off x="8735496" y="5723395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VACANT (SG 1)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2602775" y="5491066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880392" y="5491066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7499730" y="5501929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9858507" y="5491066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159228" y="2756261"/>
            <a:ext cx="2084" cy="1422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35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652049" y="114777"/>
            <a:ext cx="7059841" cy="727624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745815" y="248668"/>
              <a:ext cx="4637789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pperplate Gothic Bold" panose="020E0705020206020404" pitchFamily="34" charset="0"/>
                </a:rPr>
                <a:t>OFFICE OF THE MUNICIPAL VICE </a:t>
              </a: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MAYOR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pperplate Gothic Bold" panose="020E0705020206020404" pitchFamily="34" charset="0"/>
                </a:rPr>
                <a:t>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541329" y="842401"/>
            <a:ext cx="3281279" cy="4815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HON. ELIZER F. FIEDACAN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25)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Municipal Vice Mayor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181968" y="1323959"/>
            <a:ext cx="0" cy="1161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849078" y="1694046"/>
            <a:ext cx="3332890" cy="152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181968" y="2485309"/>
            <a:ext cx="3332890" cy="152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41" idx="0"/>
          </p:cNvCxnSpPr>
          <p:nvPr/>
        </p:nvCxnSpPr>
        <p:spPr>
          <a:xfrm>
            <a:off x="2849078" y="1696807"/>
            <a:ext cx="0" cy="33715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2535356" y="2087821"/>
            <a:ext cx="557816" cy="63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2535356" y="2723972"/>
            <a:ext cx="557816" cy="63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276245" y="2500527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CARLO C. FETALVERO(SG24)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 Member 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8391846" y="2730283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JOSEPH M. FEDELICIO (SG 24)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 Secretary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276246" y="1868829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HERBERT F. FALCUTILA(SG24)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SB Member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3093172" y="2492918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ROBERTO M. FESALBON (SG24)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 Member 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2522268" y="3336396"/>
            <a:ext cx="557816" cy="63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3090530" y="3121461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MERLITO M. SIXON (SG24)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 Member 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265799" y="3132225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RAMON F. MAGBATA, JR.(SG24)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 Member 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2511822" y="3982267"/>
            <a:ext cx="557816" cy="63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265799" y="4392072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NORVELKIMWELL F. FALCUTILA (SG24)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LnB</a:t>
            </a:r>
            <a:r>
              <a:rPr lang="en-US" sz="9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President</a:t>
            </a:r>
            <a:endParaRPr kumimoji="0" lang="en-US" sz="9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265799" y="3752511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VONN CHRISTIAN M. FRUELDA(SG24)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 Member 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 flipH="1">
            <a:off x="2548443" y="4562795"/>
            <a:ext cx="557816" cy="63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7"/>
          <p:cNvSpPr>
            <a:spLocks noChangeArrowheads="1"/>
          </p:cNvSpPr>
          <p:nvPr/>
        </p:nvSpPr>
        <p:spPr bwMode="auto">
          <a:xfrm>
            <a:off x="3106259" y="4346053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EMIL RALPH M. FAJEL (SG24)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SK </a:t>
            </a:r>
            <a:r>
              <a:rPr lang="en-US" sz="1200" dirty="0" err="1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Mun</a:t>
            </a: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Federation President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Rectangle 7"/>
          <p:cNvSpPr>
            <a:spLocks noChangeArrowheads="1"/>
          </p:cNvSpPr>
          <p:nvPr/>
        </p:nvSpPr>
        <p:spPr bwMode="auto">
          <a:xfrm>
            <a:off x="3080084" y="3717510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ALAN M. FAMINI (SG24)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 Member 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1726066" y="5068326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RAMON F. REANDELAR (SG24)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IPMR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Rectangle 7"/>
          <p:cNvSpPr>
            <a:spLocks noChangeArrowheads="1"/>
          </p:cNvSpPr>
          <p:nvPr/>
        </p:nvSpPr>
        <p:spPr bwMode="auto">
          <a:xfrm>
            <a:off x="3090530" y="1859127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DILBERT S. MOTIN (SG24)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 Member 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9514858" y="2506244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514857" y="3189795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7"/>
          <p:cNvSpPr>
            <a:spLocks noChangeArrowheads="1"/>
          </p:cNvSpPr>
          <p:nvPr/>
        </p:nvSpPr>
        <p:spPr bwMode="auto">
          <a:xfrm>
            <a:off x="8391845" y="3424523"/>
            <a:ext cx="2246023" cy="459512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ARLYN F. ESPINO (SG 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IV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96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729052" y="0"/>
            <a:ext cx="7358224" cy="857375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745815" y="248668"/>
              <a:ext cx="4541537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pperplate Gothic Bold" panose="020E0705020206020404" pitchFamily="34" charset="0"/>
                </a:rPr>
                <a:t>OFFICE OF THE MUNICIPAL</a:t>
              </a:r>
              <a:r>
                <a:rPr kumimoji="0" lang="en-US" sz="1800" b="0" i="0" u="none" strike="noStrike" cap="none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pperplate Gothic Bold" panose="020E0705020206020404" pitchFamily="34" charset="0"/>
                </a:rPr>
                <a:t> TREASURER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615538" y="857375"/>
            <a:ext cx="3281279" cy="4815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CHARLEMAGNE F. FORTU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MGDH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 (Municipal Treasurer)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693093" y="1845128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RENE F. FAMIS (SG 8)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Assistant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693093" y="2644079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SARAH JEAN M. FAJEL (SG </a:t>
            </a:r>
            <a:r>
              <a:rPr lang="en-US" sz="1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VI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6237394" y="2309843"/>
            <a:ext cx="0" cy="33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604826" y="3676851"/>
            <a:ext cx="72596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604826" y="3676851"/>
            <a:ext cx="0" cy="356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1127190" y="4050591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JAN PAULO M. FALCULAN (SG 5)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V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6260334" y="3676851"/>
            <a:ext cx="0" cy="356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4654071" y="4050590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RODOLFO P. FAJUTNAO (SG 5)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V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9864511" y="3676851"/>
            <a:ext cx="0" cy="356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8180952" y="4032985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VACANT</a:t>
            </a: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(SG 5)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V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6255933" y="3147591"/>
            <a:ext cx="0" cy="5292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234668" y="1315868"/>
            <a:ext cx="0" cy="5292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15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24278" y="77002"/>
            <a:ext cx="8734636" cy="1020278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745814" y="248668"/>
              <a:ext cx="4547522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MUNICIPAL PLANNING &amp; DEVELOPMENT OFFICE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429516" y="1780831"/>
            <a:ext cx="3281279" cy="6249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ENGR. BERLITO F. FAJEL, JR.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MGDH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 (Municipal Planning and Development Coordinator)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070156" y="2415940"/>
            <a:ext cx="0" cy="7593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4507071" y="3165689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ENGR. JILLIAN A. FALCUTILA (SG 15)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Statistician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802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747276" y="77002"/>
            <a:ext cx="8734636" cy="1020278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745814" y="248668"/>
              <a:ext cx="4547522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OFFICE OF THE MUNICIPAL BUDGET OFFICER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410266" y="1828957"/>
            <a:ext cx="3281279" cy="6249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JEANLYN F. FALLARIA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MGDH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 (Municipal Budget Officer)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995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79326" y="134753"/>
            <a:ext cx="9543158" cy="1020278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745813" y="248668"/>
              <a:ext cx="4568090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OFFICE OF THE OFFICE OF THE MUNICIPAL ASSESSOR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356535" y="2322891"/>
            <a:ext cx="3281279" cy="6249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ENGR. VINCENT D. DE CARDO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MGDH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 (Municipal Assessor)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236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61102" y="96252"/>
            <a:ext cx="7855050" cy="895150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745813" y="248668"/>
              <a:ext cx="4568090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OFFICE OF THE MUNICIPAL ACCOUNTANT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375786" y="1790456"/>
            <a:ext cx="3281279" cy="6249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ARIEL F. FAMADULAN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MGDH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 (Municipal Accountant)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6019908" y="2415371"/>
            <a:ext cx="4941" cy="4001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414563" y="2823731"/>
            <a:ext cx="3203724" cy="635104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ESPENOSA M. FEROLINO (SG 9)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Assistant III (Senior Bookkeeper)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375786" y="3895232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ERICCA MOAJE </a:t>
            </a: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(SG </a:t>
            </a: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Assistant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6024849" y="3458718"/>
            <a:ext cx="4941" cy="4001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14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61102" y="96252"/>
            <a:ext cx="7855050" cy="895150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681780" y="248667"/>
              <a:ext cx="4695872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OFFICE OF THE MUNICIPAL CIVIL REGISTRAR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429516" y="1780831"/>
            <a:ext cx="3281279" cy="6249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BELCEZAR F. FAJUTAGANA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MGDH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 (Municipal Civil Registrar)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070156" y="2415940"/>
            <a:ext cx="0" cy="7593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507071" y="3165689"/>
            <a:ext cx="3203724" cy="466007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VACANT</a:t>
            </a: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(SG 6)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VI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711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61102" y="96252"/>
            <a:ext cx="7855050" cy="895150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681780" y="248667"/>
              <a:ext cx="4695872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OFFICE OF THE MUNICIPAL ENGINEER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429516" y="1780831"/>
            <a:ext cx="3281279" cy="6249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ENGR. LAUREANO F. FALCUTILA, III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MGDH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 (Municipal Engineer)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4461521" y="2851364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ENGR. DREXTHER JAY F. FABITO (SG 16)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Engineer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4468293" y="4827909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ARJUN I. AQUINO (SG 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Aide IV (Driver)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066769" y="2429252"/>
            <a:ext cx="3386" cy="4418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492361" y="3861897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DAISY JANE F. RABINO (SG 11)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Administrative Officer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6056611" y="3385096"/>
            <a:ext cx="3386" cy="4418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054918" y="4386102"/>
            <a:ext cx="3386" cy="4418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478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61102" y="96252"/>
            <a:ext cx="7855050" cy="895150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681780" y="248667"/>
              <a:ext cx="4695872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OFFICE OF THE MUNICIPAL HEALTH OFFICER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503580" y="1076986"/>
            <a:ext cx="3281279" cy="4815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DR. JENNIE F. MATTA 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MGDH I (Municipal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Health Officer)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279290" y="1558544"/>
            <a:ext cx="9526" cy="41130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667025" y="2053922"/>
            <a:ext cx="3588908" cy="11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279290" y="2337236"/>
            <a:ext cx="2049245" cy="150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143455" y="2301120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VACANT (SG 17)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Dentist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67025" y="2053922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667025" y="2799858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065163" y="3009895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FREEZER F. MIRABETE (SG 4)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Dental Aide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6798128" y="2577326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ANNIE F. FALCUTILA (SG 16)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Nurse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8305178" y="2355129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461479" y="3884607"/>
            <a:ext cx="3837741" cy="118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463448" y="3896462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299220" y="3896462"/>
            <a:ext cx="0" cy="216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2667025" y="4170657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LAIREEN F. YLING (SG 11)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Midwife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6697358" y="4139386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LOGIN F. JOLEJOLE (SG 11)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Midwife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6282845" y="5285313"/>
            <a:ext cx="554990" cy="63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6837835" y="5035944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EDWARD RUSSELL F. BAGNATE  (SG 6)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Sanitation Inspector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flipH="1">
            <a:off x="5730271" y="5697984"/>
            <a:ext cx="554990" cy="63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2484877" y="5448615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WALTER F. FALCUNIT (SG </a:t>
            </a:r>
            <a:r>
              <a:rPr lang="en-US" sz="1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Driver II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896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61102" y="96252"/>
            <a:ext cx="7855050" cy="895150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681780" y="248667"/>
              <a:ext cx="4695872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 OFFICE OF THE MUNICIPAL AGRICULTURIST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503579" y="1758081"/>
            <a:ext cx="3281279" cy="6249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ERWIN M. MORTEL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MGDH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 (Municipal Agriculturist)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225349" y="3111403"/>
            <a:ext cx="3837741" cy="118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138247" y="2404852"/>
            <a:ext cx="5971" cy="6846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225349" y="3111403"/>
            <a:ext cx="0" cy="356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063090" y="3111403"/>
            <a:ext cx="0" cy="356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2623487" y="3467537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GRACE ELLEN F. CULPA (SG 10)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Agricultural Technologist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6461228" y="3467537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DENNIS EVERN F. FABITO (SG 10)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Agricultural Technologist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042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61102" y="96252"/>
            <a:ext cx="7855050" cy="895150"/>
            <a:chOff x="2969683" y="37775"/>
            <a:chExt cx="6190053" cy="727624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3681780" y="248666"/>
              <a:ext cx="4695872" cy="516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 OFFICE OF THE MUNICIPAL SOCIAL WELFARE AND DEVELOPMENT OFFICER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356535" y="2322891"/>
            <a:ext cx="3421652" cy="6749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LEVIE F. FAJILAN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MGDH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 (Municipal Social Welfare and Development Officer)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31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261102" y="96252"/>
            <a:ext cx="7855050" cy="895150"/>
            <a:chOff x="2969683" y="37775"/>
            <a:chExt cx="6190053" cy="727624"/>
          </a:xfrm>
        </p:grpSpPr>
        <p:sp>
          <p:nvSpPr>
            <p:cNvPr id="6" name="Rectangle 2"/>
            <p:cNvSpPr>
              <a:spLocks noChangeArrowheads="1"/>
            </p:cNvSpPr>
            <p:nvPr/>
          </p:nvSpPr>
          <p:spPr bwMode="auto">
            <a:xfrm>
              <a:off x="3681780" y="248666"/>
              <a:ext cx="4695872" cy="516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  <a:latin typeface="Copperplate Gothic Bold" panose="020E0705020206020404" pitchFamily="34" charset="0"/>
                </a:rPr>
                <a:t> MUNICIPAL DISASTER RISK REDUCTION AND MANAGEMENT OFFICE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683" y="162148"/>
              <a:ext cx="639763" cy="603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604" y="37775"/>
              <a:ext cx="776132" cy="727624"/>
            </a:xfrm>
            <a:prstGeom prst="rect">
              <a:avLst/>
            </a:prstGeom>
          </p:spPr>
        </p:pic>
      </p:grp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503580" y="1711782"/>
            <a:ext cx="3281279" cy="6249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JOHN ARVILL F. RABINO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(SG</a:t>
            </a:r>
            <a:r>
              <a:rPr kumimoji="0" lang="en-US" sz="1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15)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MDRRMO II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" name="Straight Connector 9"/>
          <p:cNvCxnSpPr>
            <a:stCxn id="9" idx="2"/>
          </p:cNvCxnSpPr>
          <p:nvPr/>
        </p:nvCxnSpPr>
        <p:spPr>
          <a:xfrm flipH="1">
            <a:off x="6144219" y="2336697"/>
            <a:ext cx="1" cy="720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868841" y="3066714"/>
            <a:ext cx="6550756" cy="164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868841" y="3083129"/>
            <a:ext cx="0" cy="356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144219" y="3092764"/>
            <a:ext cx="0" cy="356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419597" y="3083129"/>
            <a:ext cx="0" cy="356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299856" y="3425034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GERARDO M. MARFIL (SG 8)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LDRRM Assistant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8203607" y="3439263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GERWIN M. FETALCURIN (SG 8)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LDRRM Assistant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4788921" y="3439263"/>
            <a:ext cx="3203724" cy="498738"/>
          </a:xfrm>
          <a:prstGeom prst="rect">
            <a:avLst/>
          </a:prstGeom>
          <a:noFill/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RICARDO F. FAMIS(SG 8)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LDRRM Assistant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4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773</Words>
  <Application>Microsoft Office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Copperplate Gothic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18</cp:revision>
  <cp:lastPrinted>2026-06-11T02:56:48Z</cp:lastPrinted>
  <dcterms:created xsi:type="dcterms:W3CDTF">2026-05-26T05:56:27Z</dcterms:created>
  <dcterms:modified xsi:type="dcterms:W3CDTF">2026-09-02T10:33:25Z</dcterms:modified>
</cp:coreProperties>
</file>